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who you are and what the project does in one breath — a governed two-agent system that turns a raw user story into ready work or precise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Agile team has this quiet problem. The cost is paid later: wasted planning, wrong builds, and a subjective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agents, opposite jobs. One critiques, one creates. They never overlap.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system. The key part is the gate — it BRANCHES. Pause here. That's the difference between a governed workflow and a pipe.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 calls a tool that runs INVEST and DoR checks, then returns a JSON verdict: score, gate decision, explicit issues. That structured output is the linchpin.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story passes, Agent 2 takes it as approved and produces the plan: estimate with rationale, tasks, DoD, risks. Work the team can pick up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output makes the gate actionable AND the agent measurable. Without it, neither a reliable gate nor a real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Foundry across the five hackathon pillars: agents, tools, tracing, evaluation,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becomes real here. Tracing gives operational signals; evaluation gives quality signals. Both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Evaluation has three pillars. Correctness — does the gate decide right — from the offline harness against ground truth: precision 0.91, recall 0.98, gate accuracy 0.93. Output quality from the Foundry LLM-as-judge: coherence 4.7, intent 4.9, fluency 4. And a clean safety sweep across every dimension. Correctness offline, quality and safety on Foundry.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is three-way: pass, reject, and review. Borderline scores and hard blockers go to a human. The decision becomes a new labelled example, so the gate improves on exactly the hard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every verdict is structured and traced, aggregating them gives a backlog-health view: pass-rate, recurring INVEST failures, top issues, and the human review queue with ageing. This is the reviewer's suggested next step,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Faster planning, a measurable gate, and a governance system that is itself governed. You trust the output because it is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cleanly: governed delivery, from requirement to ready. Thank you. Don't add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AGILE DELIVERY GOVERNANCE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 two-agent system built on Microsoft Foundry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41248" y="4572000"/>
            <a:ext cx="1920240" cy="640080"/>
          </a:xfrm>
          <a:prstGeom prst="roundRect">
            <a:avLst>
              <a:gd name="adj" fmla="val 11429"/>
            </a:avLst>
          </a:prstGeom>
          <a:solidFill>
            <a:srgbClr val="0F6E56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4572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63240" y="4553712"/>
            <a:ext cx="676656" cy="676656"/>
          </a:xfrm>
          <a:prstGeom prst="diamond">
            <a:avLst/>
          </a:prstGeom>
          <a:solidFill>
            <a:srgbClr val="E0A516"/>
          </a:solidFill>
          <a:ln/>
        </p:spPr>
      </p:sp>
      <p:sp>
        <p:nvSpPr>
          <p:cNvPr id="7" name="Text 5"/>
          <p:cNvSpPr/>
          <p:nvPr/>
        </p:nvSpPr>
        <p:spPr>
          <a:xfrm>
            <a:off x="3063240" y="455371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23360" y="45720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12A47E"/>
          </a:solidFill>
          <a:ln/>
        </p:spPr>
      </p:sp>
      <p:sp>
        <p:nvSpPr>
          <p:cNvPr id="9" name="Text 7"/>
          <p:cNvSpPr/>
          <p:nvPr/>
        </p:nvSpPr>
        <p:spPr>
          <a:xfrm>
            <a:off x="4023360" y="4572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61488" y="4892040"/>
            <a:ext cx="292608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4892040"/>
            <a:ext cx="274320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Barbagallo  ·  Software Architect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Stories enter the backlog inconsistently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035040" cy="1143000"/>
          </a:xfrm>
          <a:prstGeom prst="roundRect">
            <a:avLst>
              <a:gd name="adj" fmla="val 8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planning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48716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is spent refining stories that should never have reached the board.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6035040" cy="1143000"/>
          </a:xfrm>
          <a:prstGeom prst="roundRect">
            <a:avLst>
              <a:gd name="adj" fmla="val 8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584448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3429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thing built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54480" y="38130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stories get interpreted three different ways.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6035040" cy="1143000"/>
          </a:xfrm>
          <a:prstGeom prst="roundRect">
            <a:avLst>
              <a:gd name="adj" fmla="val 8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910328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754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quality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51389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good enough?” is answered differently by every reviewer.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040880" y="1920240"/>
            <a:ext cx="4480560" cy="3703320"/>
          </a:xfrm>
          <a:prstGeom prst="roundRect">
            <a:avLst>
              <a:gd name="adj" fmla="val 2469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“not ready” story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0" y="2560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need a fast, user-friendly dashboard that shows everything about trades.”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15200" y="3703320"/>
            <a:ext cx="3657600" cy="365760"/>
          </a:xfrm>
          <a:prstGeom prst="roundRect">
            <a:avLst>
              <a:gd name="adj" fmla="val 50000"/>
            </a:avLst>
          </a:prstGeom>
          <a:solidFill>
            <a:srgbClr val="FBE5C8"/>
          </a:solidFill>
          <a:ln/>
        </p:spPr>
      </p:sp>
      <p:sp>
        <p:nvSpPr>
          <p:cNvPr id="23" name="Text 21"/>
          <p:cNvSpPr/>
          <p:nvPr/>
        </p:nvSpPr>
        <p:spPr>
          <a:xfrm>
            <a:off x="7452360" y="3703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wording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315200" y="4160520"/>
            <a:ext cx="3657600" cy="365760"/>
          </a:xfrm>
          <a:prstGeom prst="roundRect">
            <a:avLst>
              <a:gd name="adj" fmla="val 50000"/>
            </a:avLst>
          </a:prstGeom>
          <a:solidFill>
            <a:srgbClr val="FBE5C8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4160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acceptance criteria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315200" y="4617720"/>
            <a:ext cx="3657600" cy="365760"/>
          </a:xfrm>
          <a:prstGeom prst="roundRect">
            <a:avLst>
              <a:gd name="adj" fmla="val 50000"/>
            </a:avLst>
          </a:prstGeom>
          <a:solidFill>
            <a:srgbClr val="FBE5C8"/>
          </a:solidFill>
          <a:ln/>
        </p:spPr>
      </p:sp>
      <p:sp>
        <p:nvSpPr>
          <p:cNvPr id="27" name="Text 25"/>
          <p:cNvSpPr/>
          <p:nvPr/>
        </p:nvSpPr>
        <p:spPr>
          <a:xfrm>
            <a:off x="745236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value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315200" y="5074920"/>
            <a:ext cx="3657600" cy="365760"/>
          </a:xfrm>
          <a:prstGeom prst="roundRect">
            <a:avLst>
              <a:gd name="adj" fmla="val 50000"/>
            </a:avLst>
          </a:prstGeom>
          <a:solidFill>
            <a:srgbClr val="FBE5C8"/>
          </a:solidFill>
          <a:ln/>
        </p:spPr>
      </p:sp>
      <p:sp>
        <p:nvSpPr>
          <p:cNvPr id="29" name="Text 27"/>
          <p:cNvSpPr/>
          <p:nvPr/>
        </p:nvSpPr>
        <p:spPr>
          <a:xfrm>
            <a:off x="7452360" y="5074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too large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 with opposite jobs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937760" cy="3291840"/>
          </a:xfrm>
          <a:prstGeom prst="roundRect">
            <a:avLst>
              <a:gd name="adj" fmla="val 2778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68880"/>
            <a:ext cx="868680" cy="8686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584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 Governance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4343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a user story against INVEST and the Definition of Ready. Never plans.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0" y="2103120"/>
            <a:ext cx="4937760" cy="3291840"/>
          </a:xfrm>
          <a:prstGeom prst="roundRect">
            <a:avLst>
              <a:gd name="adj" fmla="val 2778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949440" y="2468880"/>
            <a:ext cx="868680" cy="868680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468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94944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A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94944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49440" y="4343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an already-approved story: points, tasks, DoD, risks. Never re-judges.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733288" y="3520440"/>
            <a:ext cx="731520" cy="731520"/>
          </a:xfrm>
          <a:prstGeom prst="ellipse">
            <a:avLst/>
          </a:prstGeom>
          <a:solidFill>
            <a:srgbClr val="12302B"/>
          </a:solidFill>
          <a:ln/>
        </p:spPr>
      </p:sp>
      <p:sp>
        <p:nvSpPr>
          <p:cNvPr id="17" name="Text 15"/>
          <p:cNvSpPr/>
          <p:nvPr/>
        </p:nvSpPr>
        <p:spPr>
          <a:xfrm>
            <a:off x="5733288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vs creation — a real multi-agent system, not one prompt cut in two.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quality gate that branches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3108960"/>
            <a:ext cx="1737360" cy="914400"/>
          </a:xfrm>
          <a:prstGeom prst="roundRect">
            <a:avLst>
              <a:gd name="adj" fmla="val 9000"/>
            </a:avLst>
          </a:prstGeom>
          <a:solidFill>
            <a:srgbClr val="8FA8A2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06040" y="3017520"/>
            <a:ext cx="2377440" cy="1097280"/>
          </a:xfrm>
          <a:prstGeom prst="roundRect">
            <a:avLst>
              <a:gd name="adj" fmla="val 7500"/>
            </a:avLst>
          </a:prstGeom>
          <a:solidFill>
            <a:srgbClr val="0F6E56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06040" y="3182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Governance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· INVEST + DoR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40680" y="3063240"/>
            <a:ext cx="1005840" cy="1005840"/>
          </a:xfrm>
          <a:prstGeom prst="diamond">
            <a:avLst/>
          </a:prstGeom>
          <a:solidFill>
            <a:srgbClr val="E0A516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40680" y="3063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040880" y="3017520"/>
            <a:ext cx="2468880" cy="1097280"/>
          </a:xfrm>
          <a:prstGeom prst="roundRect">
            <a:avLst>
              <a:gd name="adj" fmla="val 7500"/>
            </a:avLst>
          </a:prstGeom>
          <a:solidFill>
            <a:srgbClr val="12A47E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0" y="31821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points, tasks, DoD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829800" y="3108960"/>
            <a:ext cx="1828800" cy="914400"/>
          </a:xfrm>
          <a:prstGeom prst="roundRect">
            <a:avLst>
              <a:gd name="adj" fmla="val 9000"/>
            </a:avLst>
          </a:prstGeom>
          <a:solidFill>
            <a:srgbClr val="0E5C49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829800" y="3108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work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5074920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F3D08A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74920" y="5239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5623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author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474720"/>
            <a:ext cx="365760" cy="0"/>
          </a:xfrm>
          <a:prstGeom prst="line">
            <a:avLst/>
          </a:prstGeom>
          <a:noFill/>
          <a:ln w="28575">
            <a:solidFill>
              <a:srgbClr val="5B6B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83480" y="3474720"/>
            <a:ext cx="457200" cy="0"/>
          </a:xfrm>
          <a:prstGeom prst="line">
            <a:avLst/>
          </a:prstGeom>
          <a:noFill/>
          <a:ln w="28575">
            <a:solidFill>
              <a:srgbClr val="5B6B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46520" y="3520440"/>
            <a:ext cx="594360" cy="0"/>
          </a:xfrm>
          <a:prstGeom prst="line">
            <a:avLst/>
          </a:prstGeom>
          <a:noFill/>
          <a:ln w="28575">
            <a:solidFill>
              <a:srgbClr val="12A47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509760" y="3474720"/>
            <a:ext cx="320040" cy="0"/>
          </a:xfrm>
          <a:prstGeom prst="line">
            <a:avLst/>
          </a:prstGeom>
          <a:noFill/>
          <a:ln w="28575">
            <a:solidFill>
              <a:srgbClr val="12A47E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400800" y="2788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0" y="4114800"/>
            <a:ext cx="0" cy="868680"/>
          </a:xfrm>
          <a:prstGeom prst="line">
            <a:avLst/>
          </a:prstGeom>
          <a:noFill/>
          <a:ln w="28575">
            <a:solidFill>
              <a:srgbClr val="E0A51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943600" y="5504688"/>
            <a:ext cx="-868680" cy="0"/>
          </a:xfrm>
          <a:prstGeom prst="line">
            <a:avLst/>
          </a:prstGeom>
          <a:noFill/>
          <a:ln w="28575">
            <a:solidFill>
              <a:srgbClr val="E0A51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080760" y="4251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planning.  Fail → sent back with explicit issues, and stops. Bad stories never reach planning.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 Governance Agent — it evaluates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against INVEST + the team Definition of Ready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15468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31089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 tool that runs deterministic quality checks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06908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structured JSON verdict — never plans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75120" y="2103120"/>
            <a:ext cx="4846320" cy="3566160"/>
          </a:xfrm>
          <a:prstGeom prst="roundRect">
            <a:avLst>
              <a:gd name="adj" fmla="val 2564"/>
            </a:avLst>
          </a:prstGeom>
          <a:solidFill>
            <a:srgbClr val="12302B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verdict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0" y="269748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"classification":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"needs_refinement",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"overall_score":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"gate_pass":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0A5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"issues": [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"missing acceptance criteria",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"vague or ambiguous wording"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7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A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Agent — it plans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310896" cy="310896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 story that has already passed the gate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154680"/>
            <a:ext cx="310896" cy="310896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31089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its quality as given — never re-judges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069080"/>
            <a:ext cx="310896" cy="310896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the delivery plan the team can pick up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75120" y="2103120"/>
            <a:ext cx="4846320" cy="713232"/>
          </a:xfrm>
          <a:prstGeom prst="roundRect">
            <a:avLst>
              <a:gd name="adj" fmla="val 12821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22219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points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949440" y="24963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·  with rationale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75120" y="2971800"/>
            <a:ext cx="4846320" cy="713232"/>
          </a:xfrm>
          <a:prstGeom prst="roundRect">
            <a:avLst>
              <a:gd name="adj" fmla="val 12821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309067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49440" y="33649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non-overlapping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3840480"/>
            <a:ext cx="4846320" cy="713232"/>
          </a:xfrm>
          <a:prstGeom prst="roundRect">
            <a:avLst>
              <a:gd name="adj" fmla="val 12821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39593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949440" y="42336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DoD applied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75120" y="4709160"/>
            <a:ext cx="4846320" cy="713232"/>
          </a:xfrm>
          <a:prstGeom prst="roundRect">
            <a:avLst>
              <a:gd name="adj" fmla="val 12821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48280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949440" y="51023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explicitly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is the differentiator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E7F4EF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2316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828800" y="2514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flows to planning and becomes ready-to-build work.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10312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BF1DD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423160"/>
            <a:ext cx="640080" cy="640080"/>
          </a:xfrm>
          <a:prstGeom prst="ellipse">
            <a:avLst/>
          </a:prstGeom>
          <a:solidFill>
            <a:srgbClr val="E0A516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3957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498080" y="2514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29400" y="33832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is returned with explicit issues and stops. It never reaches planning.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 does double duty: it makes the gate actionable and the agent measurable.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MICROSOFT FOUNDRY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pillars,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440680" cy="960120"/>
          </a:xfrm>
          <a:prstGeom prst="roundRect">
            <a:avLst>
              <a:gd name="adj" fmla="val 9524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13432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13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21945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agents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5603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 in the Foundry Agent Service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2057400"/>
            <a:ext cx="5440680" cy="960120"/>
          </a:xfrm>
          <a:prstGeom prst="roundRect">
            <a:avLst>
              <a:gd name="adj" fmla="val 9524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313432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313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1945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grounding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603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/ DoR rules via a function tool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5440680" cy="960120"/>
          </a:xfrm>
          <a:prstGeom prst="roundRect">
            <a:avLst>
              <a:gd name="adj" fmla="val 9524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456432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3375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7033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tracing into Application Insights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200400"/>
            <a:ext cx="5440680" cy="960120"/>
          </a:xfrm>
          <a:prstGeom prst="roundRect">
            <a:avLst>
              <a:gd name="adj" fmla="val 9524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456432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33375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evaluation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7033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over a labelled golden set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343400"/>
            <a:ext cx="10927080" cy="960120"/>
          </a:xfrm>
          <a:prstGeom prst="roundRect">
            <a:avLst>
              <a:gd name="adj" fmla="val 9524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599432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599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48056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54480" y="484632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workflow, invocable by name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+ evaluation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2316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24688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3154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call traced into App Insights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38130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verdict travels with the trace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447141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pass-rate becomes a queryable metric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09360" y="210312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29400" y="2423160"/>
            <a:ext cx="457200" cy="457200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24688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A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675120" y="3154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15-story hand-labelled golden set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75120" y="38130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scoring in the portal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75120" y="447141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correctness, not “looks good”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says it is running. Evaluation says it is right.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three 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5786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gate decide right?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965960" y="3172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precision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931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96596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recall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965960" y="49103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accuracy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5669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harness · golden set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34256" y="205740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62856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QUALITY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62856" y="25786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LLM-as-judge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62856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</a:t>
            </a:r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806440" y="3172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62856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</a:t>
            </a:r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/5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806440" y="40416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resolution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62856" y="4800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</a:t>
            </a:r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806440" y="49103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62856" y="5669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gpt-5-mini · 15 cases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82712" y="2057400"/>
            <a:ext cx="3538728" cy="3977640"/>
          </a:xfrm>
          <a:prstGeom prst="roundRect">
            <a:avLst>
              <a:gd name="adj" fmla="val 2584"/>
            </a:avLst>
          </a:prstGeom>
          <a:solidFill>
            <a:srgbClr val="E7F4EF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11312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11312" y="25786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safety evaluators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4040" y="3154680"/>
            <a:ext cx="868680" cy="8686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8" name="Text 26"/>
          <p:cNvSpPr/>
          <p:nvPr/>
        </p:nvSpPr>
        <p:spPr>
          <a:xfrm>
            <a:off x="9464040" y="3154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8211312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sweep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211312" y="4617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violence, self-harm, sexual or hateful content. Protected-material, code-vulnerability and indirect-attack checks all pass.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scored against ground truth offline · quality and safety from the Foundry evaluation run.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knows when to ask a human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474720" cy="1371600"/>
          </a:xfrm>
          <a:prstGeom prst="roundRect">
            <a:avLst>
              <a:gd name="adj" fmla="val 6667"/>
            </a:avLst>
          </a:prstGeom>
          <a:solidFill>
            <a:srgbClr val="E7F4EF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7249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32186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score → auto-plan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46888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BF1DD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3400" y="272491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07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26280" y="32186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borderline or hard-blocked → a person decides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468880"/>
            <a:ext cx="3474720" cy="1371600"/>
          </a:xfrm>
          <a:prstGeom prst="roundRect">
            <a:avLst>
              <a:gd name="adj" fmla="val 6667"/>
            </a:avLst>
          </a:prstGeom>
          <a:solidFill>
            <a:srgbClr val="FBE3DE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27249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2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229600" y="32186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fail → sent back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configurable review band and hard blockers (e.g. an unstated dependency) route uncertain stories to review 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480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reviewer's decision is logged as a new ground-truth label, so the gate learns from the cases it found hard.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377440" y="5166360"/>
            <a:ext cx="7406640" cy="960120"/>
          </a:xfrm>
          <a:prstGeom prst="roundRect">
            <a:avLst>
              <a:gd name="adj" fmla="val 9524"/>
            </a:avLst>
          </a:prstGeom>
          <a:solidFill>
            <a:srgbClr val="E7F4EF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77440" y="516636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→ plan   ·   reject → feedback   ·   review → human → decision feeds back into evaluation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BACKLOG-HEALTH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workflow tool to health instrument</a:t>
            </a:r>
            <a:endParaRPr lang="en-US" sz="3200" dirty="0"/>
          </a:p>
        </p:txBody>
      </p:sp>
      <p:pic>
        <p:nvPicPr>
          <p:cNvPr id="4" name="Image 0" descr="/home/claude/agile-governance/dashboard/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736092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965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5820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pass-rate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458200" y="2441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backlog quality trending up?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44952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58200" y="31821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INVEST failures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458200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dimension to coach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29600" y="4123944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58200" y="4261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recurring issues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458200" y="4599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backlog's common gaps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229600" y="5202936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58200" y="53400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+ ageing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458200" y="56784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waiting on a human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gives a team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41448"/>
            <a:ext cx="512064" cy="512064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414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35000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consistent planning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737360" y="275234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stories are filtered before they reach the board.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721608"/>
            <a:ext cx="512064" cy="512064"/>
          </a:xfrm>
          <a:prstGeom prst="ellipse">
            <a:avLst/>
          </a:prstGeom>
          <a:solidFill>
            <a:srgbClr val="12A47E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37360" y="36301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measurable quality gate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403250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is a backlog-health KPI, not a subjective call.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0F7F5"/>
          </a:solidFill>
          <a:ln/>
          <a:effectLst>
            <a:outerShdw sx="100000" sy="100000" kx="0" ky="0" algn="bl" rotWithShape="0" blurRad="114300" dist="38100" dir="5400000">
              <a:srgbClr val="0B3B36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01768"/>
            <a:ext cx="512064" cy="51206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01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37360" y="491032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Itself governed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737360" y="531266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traced; every agent is evaluated.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delivery,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requirement to ready.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Barbagallo  ·  AI Agile Delivery Governance on Microsoft Foundry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Agile Delivery Governance</dc:title>
  <dc:subject>PptxGenJS Presentation</dc:subject>
  <dc:creator>Rosario Barbagallo</dc:creator>
  <cp:lastModifiedBy>Rosario Barbagallo</cp:lastModifiedBy>
  <cp:revision>1</cp:revision>
  <dcterms:created xsi:type="dcterms:W3CDTF">2026-06-26T14:31:37Z</dcterms:created>
  <dcterms:modified xsi:type="dcterms:W3CDTF">2026-06-26T14:31:37Z</dcterms:modified>
</cp:coreProperties>
</file>