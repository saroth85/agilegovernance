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Agent</c:v>
                </c:pt>
              </c:strCache>
            </c:strRef>
          </c:tx>
          <c:spPr>
            <a:solidFill>
              <a:srgbClr val="12A47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2A47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2A47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2A47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Issue precision</c:v>
                  </c:pt>
                  <c:pt idx="1">
                    <c:v>Issue recall</c:v>
                  </c:pt>
                  <c:pt idx="2">
                    <c:v>Gate accuracy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</c:v>
                </c:pt>
                <c:pt idx="1">
                  <c:v>98</c:v>
                </c:pt>
                <c:pt idx="2">
                  <c:v>93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who you are and what the project does in one breath — a governed two-agent system that turns a raw user story into ready work or precise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Agile team has this quiet problem. The cost is paid later: wasted planning, wrong builds, and a subjective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agents, opposite jobs. One critiques, one creates. They never overlap.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system. The key part is the gate — it BRANCHES. Pause here. That's the difference between a governed workflow and a pipe.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1 calls a tool that runs INVEST and DoR checks, then returns a JSON verdict: score, gate decision, explicit issues. That structured output is the linchpin.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story passes, Agent 2 takes it as approved and produces the plan: estimate with rationale, tasks, DoD, risks. Work the team can pick up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Structured output makes the gate actionable AND the agent measurable. Without it, neither a reliable gate nor a real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runs on Foundry across the five hackathon pillars: agents, tools, tracing, evaluation,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Governance becomes real here. Tracing gives operational signals; evaluation gives quality signals. Both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golden set the agent catches seeded problems with high precision/recall and matches the human gate labels most of the time. Honest framing: these are offline-harness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Faster planning, a measurable gate, and a governance system that is itself governed. You trust the output because it is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cleanly: governed delivery, from requirement to ready. Thank you. Don't add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AGILE DELIVERY GOVERNANCE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41248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governed two-agent system built on Microsoft Foundry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" y="45720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0F6E56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4572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63240" y="4553712"/>
            <a:ext cx="676656" cy="676656"/>
          </a:xfrm>
          <a:prstGeom prst="diamond">
            <a:avLst/>
          </a:prstGeom>
          <a:solidFill>
            <a:srgbClr val="E0A516"/>
          </a:solidFill>
          <a:ln/>
        </p:spPr>
      </p:sp>
      <p:sp>
        <p:nvSpPr>
          <p:cNvPr id="7" name="Text 5"/>
          <p:cNvSpPr/>
          <p:nvPr/>
        </p:nvSpPr>
        <p:spPr>
          <a:xfrm>
            <a:off x="3063240" y="455371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23360" y="45720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2A47E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0" y="4572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61488" y="4892040"/>
            <a:ext cx="292608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4892040"/>
            <a:ext cx="27432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Rosario Barbagallo  ·  Software Architect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Stories enter the backlog inconsistently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035040" cy="1143000"/>
          </a:xfrm>
          <a:prstGeom prst="roundRect">
            <a:avLst>
              <a:gd name="adj" fmla="val 8000"/>
            </a:avLst>
          </a:prstGeom>
          <a:solidFill>
            <a:srgbClr val="F0F7F5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planning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48716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is spent refining stories that should never have reached the board.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6035040" cy="1143000"/>
          </a:xfrm>
          <a:prstGeom prst="roundRect">
            <a:avLst>
              <a:gd name="adj" fmla="val 8000"/>
            </a:avLst>
          </a:prstGeom>
          <a:solidFill>
            <a:srgbClr val="F0F7F5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584448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3429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thing built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54480" y="38130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stories get interpreted three different ways.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6035040" cy="1143000"/>
          </a:xfrm>
          <a:prstGeom prst="roundRect">
            <a:avLst>
              <a:gd name="adj" fmla="val 8000"/>
            </a:avLst>
          </a:prstGeom>
          <a:solidFill>
            <a:srgbClr val="F0F7F5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910328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754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quality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51389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good enough?” is answered differently by every reviewer.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040880" y="1920240"/>
            <a:ext cx="4480560" cy="3703320"/>
          </a:xfrm>
          <a:prstGeom prst="roundRect">
            <a:avLst>
              <a:gd name="adj" fmla="val 2469"/>
            </a:avLst>
          </a:prstGeom>
          <a:solidFill>
            <a:srgbClr val="F0F7F5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2148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“not ready” story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0" y="25603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need a fast, user-friendly dashboard that shows everything about trades.”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0" y="370332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FBE5C8"/>
          </a:solidFill>
          <a:ln/>
        </p:spPr>
      </p:sp>
      <p:sp>
        <p:nvSpPr>
          <p:cNvPr id="23" name="Text 21"/>
          <p:cNvSpPr/>
          <p:nvPr/>
        </p:nvSpPr>
        <p:spPr>
          <a:xfrm>
            <a:off x="7452360" y="3703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wording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15200" y="416052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FBE5C8"/>
          </a:solidFill>
          <a:ln/>
        </p:spPr>
      </p:sp>
      <p:sp>
        <p:nvSpPr>
          <p:cNvPr id="25" name="Text 23"/>
          <p:cNvSpPr/>
          <p:nvPr/>
        </p:nvSpPr>
        <p:spPr>
          <a:xfrm>
            <a:off x="7452360" y="4160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acceptance criteria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315200" y="461772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FBE5C8"/>
          </a:solidFill>
          <a:ln/>
        </p:spPr>
      </p:sp>
      <p:sp>
        <p:nvSpPr>
          <p:cNvPr id="27" name="Text 25"/>
          <p:cNvSpPr/>
          <p:nvPr/>
        </p:nvSpPr>
        <p:spPr>
          <a:xfrm>
            <a:off x="7452360" y="4617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value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315200" y="507492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FBE5C8"/>
          </a:solidFill>
          <a:ln/>
        </p:spPr>
      </p:sp>
      <p:sp>
        <p:nvSpPr>
          <p:cNvPr id="29" name="Text 27"/>
          <p:cNvSpPr/>
          <p:nvPr/>
        </p:nvSpPr>
        <p:spPr>
          <a:xfrm>
            <a:off x="7452360" y="5074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too large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agents with opposite jobs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937760" cy="3291840"/>
          </a:xfrm>
          <a:prstGeom prst="roundRect">
            <a:avLst>
              <a:gd name="adj" fmla="val 2778"/>
            </a:avLst>
          </a:prstGeom>
          <a:solidFill>
            <a:srgbClr val="F0F7F5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468880"/>
            <a:ext cx="868680" cy="86868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05840" y="3520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 Governance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05840" y="3931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2A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3434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a user story against INVEST and the Definition of Ready. Never plans.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583680" y="2103120"/>
            <a:ext cx="4937760" cy="3291840"/>
          </a:xfrm>
          <a:prstGeom prst="roundRect">
            <a:avLst>
              <a:gd name="adj" fmla="val 2778"/>
            </a:avLst>
          </a:prstGeom>
          <a:solidFill>
            <a:srgbClr val="F0F7F5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49440" y="2468880"/>
            <a:ext cx="868680" cy="868680"/>
          </a:xfrm>
          <a:prstGeom prst="ellipse">
            <a:avLst/>
          </a:prstGeom>
          <a:solidFill>
            <a:srgbClr val="12A47E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949440" y="3520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A4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Planning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949440" y="3931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2A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0" y="43434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an already-approved story: points, tasks, DoD, risks. Never re-judges.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733288" y="3520440"/>
            <a:ext cx="731520" cy="731520"/>
          </a:xfrm>
          <a:prstGeom prst="ellipse">
            <a:avLst/>
          </a:prstGeom>
          <a:solidFill>
            <a:srgbClr val="12302B"/>
          </a:solidFill>
          <a:ln/>
        </p:spPr>
      </p:sp>
      <p:sp>
        <p:nvSpPr>
          <p:cNvPr id="17" name="Text 15"/>
          <p:cNvSpPr/>
          <p:nvPr/>
        </p:nvSpPr>
        <p:spPr>
          <a:xfrm>
            <a:off x="5733288" y="3520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vs creation — a real multi-agent system, not one prompt cut in two.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quality gate that branches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3108960"/>
            <a:ext cx="1737360" cy="914400"/>
          </a:xfrm>
          <a:prstGeom prst="roundRect">
            <a:avLst>
              <a:gd name="adj" fmla="val 9000"/>
            </a:avLst>
          </a:prstGeom>
          <a:solidFill>
            <a:srgbClr val="8FA8A2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31089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3017520"/>
            <a:ext cx="2377440" cy="1097280"/>
          </a:xfrm>
          <a:prstGeom prst="roundRect">
            <a:avLst>
              <a:gd name="adj" fmla="val 7500"/>
            </a:avLst>
          </a:prstGeom>
          <a:solidFill>
            <a:srgbClr val="0F6E56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06040" y="31821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Governance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0604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· INVEST + DoR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40680" y="3063240"/>
            <a:ext cx="1005840" cy="1005840"/>
          </a:xfrm>
          <a:prstGeom prst="diamond">
            <a:avLst/>
          </a:prstGeom>
          <a:solidFill>
            <a:srgbClr val="E0A516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40680" y="3063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40880" y="3017520"/>
            <a:ext cx="2468880" cy="1097280"/>
          </a:xfrm>
          <a:prstGeom prst="roundRect">
            <a:avLst>
              <a:gd name="adj" fmla="val 7500"/>
            </a:avLst>
          </a:prstGeom>
          <a:solidFill>
            <a:srgbClr val="12A47E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040880" y="31821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3566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points, tasks, DoD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829800" y="3108960"/>
            <a:ext cx="1828800" cy="914400"/>
          </a:xfrm>
          <a:prstGeom prst="roundRect">
            <a:avLst>
              <a:gd name="adj" fmla="val 9000"/>
            </a:avLst>
          </a:prstGeom>
          <a:solidFill>
            <a:srgbClr val="0E5C49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829800" y="31089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work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74920" y="507492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F3D08A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74920" y="52395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74920" y="5623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author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40280" y="3474720"/>
            <a:ext cx="365760" cy="0"/>
          </a:xfrm>
          <a:prstGeom prst="line">
            <a:avLst/>
          </a:prstGeom>
          <a:noFill/>
          <a:ln w="28575">
            <a:solidFill>
              <a:srgbClr val="5B6B6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983480" y="3474720"/>
            <a:ext cx="457200" cy="0"/>
          </a:xfrm>
          <a:prstGeom prst="line">
            <a:avLst/>
          </a:prstGeom>
          <a:noFill/>
          <a:ln w="28575">
            <a:solidFill>
              <a:srgbClr val="5B6B6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3520440"/>
            <a:ext cx="594360" cy="0"/>
          </a:xfrm>
          <a:prstGeom prst="line">
            <a:avLst/>
          </a:prstGeom>
          <a:noFill/>
          <a:ln w="28575">
            <a:solidFill>
              <a:srgbClr val="12A47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509760" y="3474720"/>
            <a:ext cx="320040" cy="0"/>
          </a:xfrm>
          <a:prstGeom prst="line">
            <a:avLst/>
          </a:prstGeom>
          <a:noFill/>
          <a:ln w="28575">
            <a:solidFill>
              <a:srgbClr val="12A47E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400800" y="2788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4114800"/>
            <a:ext cx="0" cy="868680"/>
          </a:xfrm>
          <a:prstGeom prst="line">
            <a:avLst/>
          </a:prstGeom>
          <a:noFill/>
          <a:ln w="28575">
            <a:solidFill>
              <a:srgbClr val="E0A51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43600" y="5504688"/>
            <a:ext cx="-868680" cy="0"/>
          </a:xfrm>
          <a:prstGeom prst="line">
            <a:avLst/>
          </a:prstGeom>
          <a:noFill/>
          <a:ln w="28575">
            <a:solidFill>
              <a:srgbClr val="E0A516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080760" y="4251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→ planning.  Fail → sent back with explicit issues, and stops. Bad stories never reach planning.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 Governance Agent — it evaluates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40280"/>
            <a:ext cx="310896" cy="3108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2194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against INVEST + the team Definition of Ready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310896" cy="3108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31089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 tool that runs deterministic quality checks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069080"/>
            <a:ext cx="310896" cy="310896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4023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structured JSON verdict — never plans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75120" y="2103120"/>
            <a:ext cx="4846320" cy="3566160"/>
          </a:xfrm>
          <a:prstGeom prst="roundRect">
            <a:avLst>
              <a:gd name="adj" fmla="val 2564"/>
            </a:avLst>
          </a:prstGeom>
          <a:solidFill>
            <a:srgbClr val="12302B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49440" y="2286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verdict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0" y="269748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B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B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"classification":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"needs_refinement",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B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"overall_score":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48,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B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"gate_pass":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0A5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false,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B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"issues": [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"missing acceptance criteria",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"vague or ambiguous wording"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B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B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A4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Planning Agent — it plans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40280"/>
            <a:ext cx="310896" cy="310896"/>
          </a:xfrm>
          <a:prstGeom prst="ellipse">
            <a:avLst/>
          </a:prstGeom>
          <a:solidFill>
            <a:srgbClr val="12A47E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2194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 story that has already passed the gate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310896" cy="310896"/>
          </a:xfrm>
          <a:prstGeom prst="ellipse">
            <a:avLst/>
          </a:prstGeom>
          <a:solidFill>
            <a:srgbClr val="12A47E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31089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its quality as given — never re-judges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069080"/>
            <a:ext cx="310896" cy="310896"/>
          </a:xfrm>
          <a:prstGeom prst="ellipse">
            <a:avLst/>
          </a:prstGeom>
          <a:solidFill>
            <a:srgbClr val="12A47E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4023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the delivery plan the team can pick up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75120" y="2103120"/>
            <a:ext cx="4846320" cy="713232"/>
          </a:xfrm>
          <a:prstGeom prst="roundRect">
            <a:avLst>
              <a:gd name="adj" fmla="val 12821"/>
            </a:avLst>
          </a:prstGeom>
          <a:solidFill>
            <a:srgbClr val="F0F7F5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49440" y="22219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949440" y="24963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·  with rationale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0" y="2971800"/>
            <a:ext cx="4846320" cy="713232"/>
          </a:xfrm>
          <a:prstGeom prst="roundRect">
            <a:avLst>
              <a:gd name="adj" fmla="val 12821"/>
            </a:avLst>
          </a:prstGeom>
          <a:solidFill>
            <a:srgbClr val="F0F7F5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309067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949440" y="33649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non-overlapping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0" y="3840480"/>
            <a:ext cx="4846320" cy="713232"/>
          </a:xfrm>
          <a:prstGeom prst="roundRect">
            <a:avLst>
              <a:gd name="adj" fmla="val 12821"/>
            </a:avLst>
          </a:prstGeom>
          <a:solidFill>
            <a:srgbClr val="F0F7F5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39593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949440" y="42336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DoD applied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75120" y="4709160"/>
            <a:ext cx="4846320" cy="713232"/>
          </a:xfrm>
          <a:prstGeom prst="roundRect">
            <a:avLst>
              <a:gd name="adj" fmla="val 12821"/>
            </a:avLst>
          </a:prstGeom>
          <a:solidFill>
            <a:srgbClr val="F0F7F5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49440" y="48280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949440" y="51023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explicitly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 is the differentiator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E7F4EF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640080" cy="64008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2880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33832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flows to planning and becomes ready-to-build work.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210312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FBF1DD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2423160"/>
            <a:ext cx="640080" cy="640080"/>
          </a:xfrm>
          <a:prstGeom prst="ellipse">
            <a:avLst/>
          </a:prstGeom>
          <a:solidFill>
            <a:srgbClr val="E0A516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395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49808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7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29400" y="33832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is returned with explicit issues and stops. It never reaches planning.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5212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 does double duty: it makes the gate actionable and the agent measurable.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MICROSOFT FOUNDRY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pillars,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440680" cy="960120"/>
          </a:xfrm>
          <a:prstGeom prst="roundRect">
            <a:avLst>
              <a:gd name="adj" fmla="val 9524"/>
            </a:avLst>
          </a:prstGeom>
          <a:solidFill>
            <a:srgbClr val="F0F7F5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13432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1945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agents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5603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 in the Foundry Agent Service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2057400"/>
            <a:ext cx="5440680" cy="960120"/>
          </a:xfrm>
          <a:prstGeom prst="roundRect">
            <a:avLst>
              <a:gd name="adj" fmla="val 9524"/>
            </a:avLst>
          </a:prstGeom>
          <a:solidFill>
            <a:srgbClr val="F0F7F5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2313432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69480" y="21945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grounding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69480" y="25603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/ DoR rules via a function tool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5440680" cy="960120"/>
          </a:xfrm>
          <a:prstGeom prst="roundRect">
            <a:avLst>
              <a:gd name="adj" fmla="val 9524"/>
            </a:avLst>
          </a:prstGeom>
          <a:solidFill>
            <a:srgbClr val="F0F7F5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456432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33375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7033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tracing into Application Insights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3200400"/>
            <a:ext cx="5440680" cy="960120"/>
          </a:xfrm>
          <a:prstGeom prst="roundRect">
            <a:avLst>
              <a:gd name="adj" fmla="val 9524"/>
            </a:avLst>
          </a:prstGeom>
          <a:solidFill>
            <a:srgbClr val="F0F7F5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3456432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69480" y="33375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evaluation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69480" y="37033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over a labelled golden set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343400"/>
            <a:ext cx="10927080" cy="960120"/>
          </a:xfrm>
          <a:prstGeom prst="roundRect">
            <a:avLst>
              <a:gd name="adj" fmla="val 9524"/>
            </a:avLst>
          </a:prstGeom>
          <a:solidFill>
            <a:srgbClr val="F0F7F5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4599432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4480560"/>
            <a:ext cx="9829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54480" y="4846320"/>
            <a:ext cx="9829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workflow, invocable by name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+ evaluation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F0F7F5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4688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3154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call traced into App Insights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38130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verdict travels with the trace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05840" y="447141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pass-rate becomes a queryable metric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09360" y="210312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F0F7F5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29400" y="2423160"/>
            <a:ext cx="457200" cy="457200"/>
          </a:xfrm>
          <a:prstGeom prst="ellipse">
            <a:avLst/>
          </a:prstGeom>
          <a:solidFill>
            <a:srgbClr val="12A47E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69480" y="24688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A4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675120" y="3154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15-story hand-labelled golden set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675120" y="38130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scoring in the portal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75120" y="447141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correctness, not “looks good”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says it is running. Evaluation says it is right.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not guessed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148840"/>
          <a:ext cx="66751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2148840"/>
            <a:ext cx="3840480" cy="1737360"/>
          </a:xfrm>
          <a:prstGeom prst="roundRect">
            <a:avLst>
              <a:gd name="adj" fmla="val 5263"/>
            </a:avLst>
          </a:prstGeom>
          <a:solidFill>
            <a:srgbClr val="E7F4EF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80960" y="23774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680960" y="32461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pass-rate on the sample backlog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80960" y="4114800"/>
            <a:ext cx="3840480" cy="1783080"/>
          </a:xfrm>
          <a:prstGeom prst="roundRect">
            <a:avLst>
              <a:gd name="adj" fmla="val 5128"/>
            </a:avLst>
          </a:prstGeom>
          <a:solidFill>
            <a:srgbClr val="F0F7F5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55280" y="42976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 the agent is wrong, the evaluation surfaces exactly which cases to fix.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scores from the offline evaluation harness over the 15-story golden set.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gives a team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F0F7F5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41448"/>
            <a:ext cx="512064" cy="512064"/>
          </a:xfrm>
          <a:prstGeom prst="ellipse">
            <a:avLst/>
          </a:prstGeom>
          <a:solidFill>
            <a:srgbClr val="12A47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41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235000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Faster, consistent planning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737360" y="2752344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stories are filtered before they reach the board.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F0F7F5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721608"/>
            <a:ext cx="512064" cy="512064"/>
          </a:xfrm>
          <a:prstGeom prst="ellipse">
            <a:avLst/>
          </a:prstGeom>
          <a:solidFill>
            <a:srgbClr val="12A47E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721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37360" y="363016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measurable quality gate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37360" y="4032504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Pass-rate is a backlog-health KPI, not a subjective call.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F0F7F5"/>
          </a:solidFill>
          <a:ln/>
          <a:effectLst>
            <a:outerShdw sx="100000" sy="100000" kx="0" ky="0" algn="bl" rotWithShape="0" blurRad="114300" dist="38100" dir="5400000">
              <a:srgbClr val="0B3B36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5001768"/>
            <a:ext cx="512064" cy="512064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001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37360" y="4910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Itself governed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737360" y="5312664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traced; every agent is evaluated.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delivery,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requirement to ready.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Rosario Barbagallo  ·  AI Agile Delivery Governance on Microsoft Foundry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41248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Agile Delivery Governance</dc:title>
  <dc:subject>PptxGenJS Presentation</dc:subject>
  <dc:creator>Rosario Barbagallo</dc:creator>
  <cp:lastModifiedBy>Rosario Barbagallo</cp:lastModifiedBy>
  <cp:revision>1</cp:revision>
  <dcterms:created xsi:type="dcterms:W3CDTF">2026-06-25T21:34:30Z</dcterms:created>
  <dcterms:modified xsi:type="dcterms:W3CDTF">2026-06-25T21:34:30Z</dcterms:modified>
</cp:coreProperties>
</file>